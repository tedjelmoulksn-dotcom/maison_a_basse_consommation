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F86"/>
    <a:srgbClr val="45A149"/>
    <a:srgbClr val="B0E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12BD6-8391-BB4F-172C-68E4397F1495}" v="2309" dt="2025-06-07T18:32:56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10" autoAdjust="0"/>
  </p:normalViewPr>
  <p:slideViewPr>
    <p:cSldViewPr snapToGrid="0">
      <p:cViewPr varScale="1">
        <p:scale>
          <a:sx n="10" d="100"/>
          <a:sy n="10" d="100"/>
        </p:scale>
        <p:origin x="2276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4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86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73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82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49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101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22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9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46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698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5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B8848-6852-4A23-8900-26E6411FDF45}" type="datetimeFigureOut">
              <a:rPr lang="fr-FR" smtClean="0"/>
              <a:t>07/06/2025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75FAA-3842-4DFF-B65F-BF930AF4AF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00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mailto:gabriel.dutier@univ-paris13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89E8FD35-3260-46F2-7407-3FCE073CA460}"/>
              </a:ext>
            </a:extLst>
          </p:cNvPr>
          <p:cNvSpPr txBox="1"/>
          <p:nvPr/>
        </p:nvSpPr>
        <p:spPr>
          <a:xfrm>
            <a:off x="-1" y="-153523"/>
            <a:ext cx="30275213" cy="45111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0FEF4F-CB2E-4595-9D56-8FDB8782A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158" y="1103502"/>
            <a:ext cx="7169357" cy="19550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EBADA2-6208-4C19-81B0-9B38CD501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3056" y="2293297"/>
            <a:ext cx="7588993" cy="24261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C1150DA-3217-45F0-AA3D-9CC3621678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98" y="-93171"/>
            <a:ext cx="4665922" cy="166461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CBBC103-785D-4399-9350-4A9D84AA7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81000"/>
                    </a14:imgEffect>
                    <a14:imgEffect>
                      <a14:brightnessContrast contras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6199" y="40487590"/>
            <a:ext cx="2450865" cy="24508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45929DD-ABE5-4F09-9A68-55663EBA26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5317" y="41558392"/>
            <a:ext cx="5597278" cy="1141845"/>
          </a:xfrm>
          <a:prstGeom prst="rect">
            <a:avLst/>
          </a:prstGeom>
          <a:solidFill>
            <a:srgbClr val="B0E16F">
              <a:alpha val="0"/>
            </a:srgbClr>
          </a:solidFill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B93C6D0-88CF-2A7F-3B12-D7F76FBB3224}"/>
              </a:ext>
            </a:extLst>
          </p:cNvPr>
          <p:cNvSpPr txBox="1"/>
          <p:nvPr/>
        </p:nvSpPr>
        <p:spPr>
          <a:xfrm>
            <a:off x="5449191" y="-139978"/>
            <a:ext cx="24027408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lang="fr-FR" sz="75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Arial"/>
                <a:cs typeface="Arial"/>
              </a:rPr>
              <a:t>Maquette d’une maison </a:t>
            </a:r>
            <a:r>
              <a:rPr lang="fr-FR" sz="7500" b="1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énergétique intelligente : régulation</a:t>
            </a:r>
            <a:r>
              <a:rPr lang="fr-FR" sz="75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Arial"/>
                <a:cs typeface="Arial"/>
              </a:rPr>
              <a:t> thermique autonome</a:t>
            </a:r>
            <a:endParaRPr lang="fr-FR" sz="7500">
              <a:solidFill>
                <a:schemeClr val="accent6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2B1F3F1-BA30-453F-81EA-8A1F86F38B3C}"/>
              </a:ext>
            </a:extLst>
          </p:cNvPr>
          <p:cNvSpPr txBox="1"/>
          <p:nvPr/>
        </p:nvSpPr>
        <p:spPr>
          <a:xfrm>
            <a:off x="8211583" y="2212814"/>
            <a:ext cx="1861034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4000" b="1" dirty="0">
                <a:solidFill>
                  <a:schemeClr val="accent6">
                    <a:lumMod val="50000"/>
                  </a:schemeClr>
                </a:solidFill>
              </a:rPr>
              <a:t>Greg ALBERTS, Sarah DAHMOUN, Hugo LEBAUD, </a:t>
            </a:r>
            <a:r>
              <a:rPr lang="fr-FR" sz="4000" b="1" err="1">
                <a:solidFill>
                  <a:schemeClr val="accent6">
                    <a:lumMod val="50000"/>
                  </a:schemeClr>
                </a:solidFill>
              </a:rPr>
              <a:t>Tedj</a:t>
            </a:r>
            <a:r>
              <a:rPr lang="fr-FR" sz="4000" b="1" dirty="0">
                <a:solidFill>
                  <a:schemeClr val="accent6">
                    <a:lumMod val="50000"/>
                  </a:schemeClr>
                </a:solidFill>
              </a:rPr>
              <a:t> El </a:t>
            </a:r>
            <a:r>
              <a:rPr lang="fr-FR" sz="4000" b="1" err="1">
                <a:solidFill>
                  <a:schemeClr val="accent6">
                    <a:lumMod val="50000"/>
                  </a:schemeClr>
                </a:solidFill>
              </a:rPr>
              <a:t>Moulk</a:t>
            </a:r>
            <a:r>
              <a:rPr lang="fr-FR" sz="4000" b="1" dirty="0">
                <a:solidFill>
                  <a:schemeClr val="accent6">
                    <a:lumMod val="50000"/>
                  </a:schemeClr>
                </a:solidFill>
              </a:rPr>
              <a:t> SINACER </a:t>
            </a:r>
            <a:endParaRPr lang="fr-FR" sz="4000" b="1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fr-FR" sz="4000" b="1" dirty="0">
                <a:solidFill>
                  <a:schemeClr val="accent6">
                    <a:lumMod val="50000"/>
                  </a:schemeClr>
                </a:solidFill>
              </a:rPr>
              <a:t>Encadrant : Gabriel DUTIER, LPL, </a:t>
            </a:r>
            <a:r>
              <a:rPr lang="fr-FR" sz="4000" b="1" i="0" dirty="0">
                <a:solidFill>
                  <a:schemeClr val="accent1">
                    <a:lumMod val="75000"/>
                  </a:schemeClr>
                </a:solidFill>
                <a:effectLst/>
                <a:latin typeface="Manrope-Regular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gabriel.dutier@univ-paris13.fr</a:t>
            </a:r>
            <a:endParaRPr lang="fr-FR" sz="4000" b="1">
              <a:solidFill>
                <a:schemeClr val="accent1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B1013C-3F64-AC10-75B2-5178D00286F0}"/>
              </a:ext>
            </a:extLst>
          </p:cNvPr>
          <p:cNvSpPr txBox="1"/>
          <p:nvPr/>
        </p:nvSpPr>
        <p:spPr>
          <a:xfrm>
            <a:off x="8511832" y="3688099"/>
            <a:ext cx="20845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0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36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Cycle ingénieur 2ème année – Instrumentation et Systèmes Embarqués – Sup Galilée – USPN</a:t>
            </a:r>
            <a:endParaRPr lang="fr-FR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45C20E7-B548-3E4D-6EDA-56CFF521B98D}"/>
              </a:ext>
            </a:extLst>
          </p:cNvPr>
          <p:cNvSpPr txBox="1"/>
          <p:nvPr/>
        </p:nvSpPr>
        <p:spPr>
          <a:xfrm>
            <a:off x="206590" y="4759061"/>
            <a:ext cx="17854392" cy="122033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8500" b="1" dirty="0"/>
              <a:t>1</a:t>
            </a:r>
            <a:r>
              <a:rPr lang="fr-FR" sz="8500" dirty="0"/>
              <a:t>- </a:t>
            </a:r>
            <a:r>
              <a:rPr lang="fr-FR" sz="8500" b="1" u="sng" dirty="0"/>
              <a:t>Contexte et objectif</a:t>
            </a:r>
          </a:p>
          <a:p>
            <a:r>
              <a:rPr lang="fr-FR" sz="5400" i="1" u="sng" dirty="0"/>
              <a:t>Contexte :</a:t>
            </a:r>
            <a:r>
              <a:rPr lang="fr-FR" sz="5400" dirty="0"/>
              <a:t> </a:t>
            </a:r>
            <a:endParaRPr lang="fr-FR" sz="5400" dirty="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fr-FR" sz="3600" dirty="0"/>
              <a:t>En France et en Europe le secteur du bâtiment représente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fr-FR" sz="3600" dirty="0"/>
              <a:t> environ 40% de la consommation énergétique totale.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fr-FR" sz="3600" dirty="0"/>
              <a:t>L’optimisation des systèmes de régulation thermique est </a:t>
            </a:r>
          </a:p>
          <a:p>
            <a:pPr>
              <a:lnSpc>
                <a:spcPct val="150000"/>
              </a:lnSpc>
            </a:pPr>
            <a:r>
              <a:rPr lang="fr-FR" sz="3600" dirty="0"/>
              <a:t>un levier concret d’action 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50000"/>
              </a:lnSpc>
            </a:pPr>
            <a:r>
              <a:rPr lang="fr-FR" sz="1400" dirty="0"/>
              <a:t>  </a:t>
            </a:r>
            <a:endParaRPr lang="fr-FR" sz="140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fr-FR" sz="3600" dirty="0"/>
              <a:t>Pourquoi une maquette ?</a:t>
            </a:r>
            <a:endParaRPr lang="fr-FR" dirty="0">
              <a:ea typeface="Calibri"/>
              <a:cs typeface="Calibri"/>
            </a:endParaRPr>
          </a:p>
          <a:p>
            <a:pPr marL="571500" indent="-571500" algn="just">
              <a:lnSpc>
                <a:spcPct val="150000"/>
              </a:lnSpc>
              <a:buFont typeface="Arial"/>
              <a:buChar char="•"/>
            </a:pPr>
            <a:r>
              <a:rPr lang="fr-FR" sz="3600" dirty="0"/>
              <a:t>Permet de tester des solutions en conditions simulées 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fr-FR" sz="3600" dirty="0"/>
              <a:t>Reproduire le comportement thermique d’une maison </a:t>
            </a:r>
          </a:p>
          <a:p>
            <a:pPr>
              <a:lnSpc>
                <a:spcPct val="150000"/>
              </a:lnSpc>
            </a:pPr>
            <a:r>
              <a:rPr lang="fr-FR" sz="3600" dirty="0"/>
              <a:t>à petite échelle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fr-FR" sz="1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1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1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1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3000" dirty="0">
              <a:ea typeface="Calibri" panose="020F0502020204030204"/>
              <a:cs typeface="Calibri" panose="020F0502020204030204"/>
            </a:endParaRPr>
          </a:p>
          <a:p>
            <a:pPr marL="571500" indent="-571500">
              <a:buFont typeface="Arial"/>
              <a:buChar char="•"/>
            </a:pP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endParaRPr lang="fr-FR" sz="3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68AA07-7A88-068D-D6C5-E5815AFF0075}"/>
              </a:ext>
            </a:extLst>
          </p:cNvPr>
          <p:cNvSpPr txBox="1"/>
          <p:nvPr/>
        </p:nvSpPr>
        <p:spPr>
          <a:xfrm>
            <a:off x="291001" y="14244484"/>
            <a:ext cx="9550400" cy="261610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5400" b="0" i="1" u="sng" strike="noStrike" dirty="0">
                <a:solidFill>
                  <a:srgbClr val="000000"/>
                </a:solidFill>
                <a:effectLst/>
              </a:rPr>
              <a:t>Objectif :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3600" b="0" i="0" u="none" strike="noStrike" dirty="0">
                <a:solidFill>
                  <a:srgbClr val="000000"/>
                </a:solidFill>
                <a:effectLst/>
              </a:rPr>
              <a:t>Créer une maison miniature capable de réguler sa température selon la saison et en autonomie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fr-FR" dirty="0"/>
            </a:b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D92390F-08D3-9A8B-9F00-50A49AC57FCF}"/>
              </a:ext>
            </a:extLst>
          </p:cNvPr>
          <p:cNvSpPr txBox="1"/>
          <p:nvPr/>
        </p:nvSpPr>
        <p:spPr>
          <a:xfrm>
            <a:off x="18407412" y="4766827"/>
            <a:ext cx="11705557" cy="121997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8500" b="1" dirty="0"/>
              <a:t>2</a:t>
            </a:r>
            <a:r>
              <a:rPr lang="fr-FR" sz="8500" dirty="0"/>
              <a:t>- </a:t>
            </a:r>
            <a:r>
              <a:rPr lang="fr-FR" sz="8500" b="1" u="sng" dirty="0"/>
              <a:t>Stratégie</a:t>
            </a:r>
            <a:endParaRPr lang="fr-FR" sz="3600" dirty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pPr marL="571500" indent="-571500">
              <a:buFontTx/>
              <a:buChar char="-"/>
            </a:pPr>
            <a:endParaRPr lang="fr-FR" sz="3600" dirty="0"/>
          </a:p>
          <a:p>
            <a:r>
              <a:rPr lang="fr-FR" sz="4000" dirty="0"/>
              <a:t>  	</a:t>
            </a:r>
          </a:p>
          <a:p>
            <a:endParaRPr lang="fr-FR" sz="4000" b="0" dirty="0">
              <a:effectLst/>
            </a:endParaRPr>
          </a:p>
          <a:p>
            <a:endParaRPr lang="fr-FR" sz="4000" dirty="0"/>
          </a:p>
          <a:p>
            <a:endParaRPr lang="fr-FR" sz="4000" b="0" dirty="0">
              <a:effectLst/>
            </a:endParaRPr>
          </a:p>
          <a:p>
            <a:endParaRPr lang="fr-FR" sz="4000" dirty="0"/>
          </a:p>
          <a:p>
            <a:pPr algn="just"/>
            <a:r>
              <a:rPr lang="fr-FR" sz="4000" b="0" dirty="0">
                <a:effectLst/>
              </a:rPr>
              <a:t>Liste du matériel : </a:t>
            </a:r>
            <a:endParaRPr lang="fr-FR" sz="4000" b="0" dirty="0">
              <a:effectLst/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4000" dirty="0"/>
              <a:t>Contrôle de la température intérieure :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fr-FR" sz="4000" dirty="0"/>
              <a:t>	- Résistance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fr-FR" sz="4000" dirty="0"/>
              <a:t>    - Ventilateur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4000" dirty="0"/>
              <a:t> Contrôle de la température extérieure: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fr-FR" sz="4000" dirty="0"/>
              <a:t>     - Soleil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fr-FR" sz="4000" dirty="0"/>
              <a:t>     - Peltier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4000" dirty="0"/>
              <a:t>Actionneur : 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fr-FR" sz="4000" dirty="0"/>
              <a:t>    -  Volet motorisé par un moteur pas-à-pas</a:t>
            </a:r>
            <a:endParaRPr lang="fr-FR" sz="40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4000" b="0" dirty="0">
                <a:effectLst/>
              </a:rPr>
              <a:t>Carte Arduino méga</a:t>
            </a:r>
            <a:endParaRPr lang="fr-FR" sz="4000" b="0" dirty="0">
              <a:effectLst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305083A-C034-EE37-0F0E-7CAC12E917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7" r="8442" b="-971"/>
          <a:stretch>
            <a:fillRect/>
          </a:stretch>
        </p:blipFill>
        <p:spPr>
          <a:xfrm>
            <a:off x="11271778" y="10096155"/>
            <a:ext cx="6586862" cy="5001183"/>
          </a:xfrm>
          <a:prstGeom prst="rect">
            <a:avLst/>
          </a:prstGeom>
        </p:spPr>
      </p:pic>
      <p:pic>
        <p:nvPicPr>
          <p:cNvPr id="1028" name="Picture 4" descr="Point sur la situation énergétique en Europe">
            <a:extLst>
              <a:ext uri="{FF2B5EF4-FFF2-40B4-BE49-F238E27FC236}">
                <a16:creationId xmlns:a16="http://schemas.microsoft.com/office/drawing/2014/main" id="{A42E9EDA-4F59-F2C7-2EBF-938307E0A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117" y="5842381"/>
            <a:ext cx="497205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B2ED9997-2131-B4E0-331C-DF2667C76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131674"/>
              </p:ext>
            </p:extLst>
          </p:nvPr>
        </p:nvGraphicFramePr>
        <p:xfrm>
          <a:off x="18724837" y="6198526"/>
          <a:ext cx="11083636" cy="4517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18">
                  <a:extLst>
                    <a:ext uri="{9D8B030D-6E8A-4147-A177-3AD203B41FA5}">
                      <a16:colId xmlns:a16="http://schemas.microsoft.com/office/drawing/2014/main" val="2987723766"/>
                    </a:ext>
                  </a:extLst>
                </a:gridCol>
                <a:gridCol w="5541818">
                  <a:extLst>
                    <a:ext uri="{9D8B030D-6E8A-4147-A177-3AD203B41FA5}">
                      <a16:colId xmlns:a16="http://schemas.microsoft.com/office/drawing/2014/main" val="3351877090"/>
                    </a:ext>
                  </a:extLst>
                </a:gridCol>
              </a:tblGrid>
              <a:tr h="950910">
                <a:tc>
                  <a:txBody>
                    <a:bodyPr/>
                    <a:lstStyle/>
                    <a:p>
                      <a:pPr algn="ctr"/>
                      <a:r>
                        <a:rPr lang="fr-FR" sz="4000" dirty="0">
                          <a:solidFill>
                            <a:schemeClr val="bg1"/>
                          </a:solidFill>
                        </a:rPr>
                        <a:t>Réalité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dirty="0">
                          <a:solidFill>
                            <a:schemeClr val="bg1"/>
                          </a:solidFill>
                        </a:rPr>
                        <a:t>Maquette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44363"/>
                  </a:ext>
                </a:extLst>
              </a:tr>
              <a:tr h="807716"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Température extérieure dépend de la météo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Température extérieure simulée et contrôlée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434244"/>
                  </a:ext>
                </a:extLst>
              </a:tr>
              <a:tr h="1091180"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Taille: dissipation thermique lente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Taille: dissipation thermique rapide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96371"/>
                  </a:ext>
                </a:extLst>
              </a:tr>
              <a:tr h="1001680"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Isolation : matériaux adaptés (ex: l'air)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3600" dirty="0">
                          <a:solidFill>
                            <a:schemeClr val="tx1"/>
                          </a:solidFill>
                        </a:rPr>
                        <a:t>Isolation : mur de la maison en bois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81991"/>
                  </a:ext>
                </a:extLst>
              </a:tr>
            </a:tbl>
          </a:graphicData>
        </a:graphic>
      </p:graphicFrame>
      <p:sp>
        <p:nvSpPr>
          <p:cNvPr id="38" name="ZoneTexte 37">
            <a:extLst>
              <a:ext uri="{FF2B5EF4-FFF2-40B4-BE49-F238E27FC236}">
                <a16:creationId xmlns:a16="http://schemas.microsoft.com/office/drawing/2014/main" id="{FE05451C-651B-9904-2E48-AEADD0B41557}"/>
              </a:ext>
            </a:extLst>
          </p:cNvPr>
          <p:cNvSpPr txBox="1"/>
          <p:nvPr/>
        </p:nvSpPr>
        <p:spPr>
          <a:xfrm>
            <a:off x="211974" y="17363828"/>
            <a:ext cx="17826801" cy="160043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8000" b="1" dirty="0"/>
              <a:t>3</a:t>
            </a:r>
            <a:r>
              <a:rPr lang="fr-FR" sz="8000" dirty="0"/>
              <a:t>- </a:t>
            </a:r>
            <a:r>
              <a:rPr lang="fr-FR" sz="8000" b="1" u="sng" dirty="0"/>
              <a:t>Architecture du système</a:t>
            </a:r>
            <a:endParaRPr lang="fr-FR" sz="8000" b="1" dirty="0"/>
          </a:p>
          <a:p>
            <a:r>
              <a:rPr lang="fr-FR" sz="5400" i="1" dirty="0"/>
              <a:t>       A- </a:t>
            </a:r>
            <a:r>
              <a:rPr lang="fr-FR" sz="5400" i="1" u="sng" dirty="0"/>
              <a:t>Montage électrique  </a:t>
            </a:r>
            <a:endParaRPr lang="fr-FR" sz="5400" i="1" u="sng" dirty="0">
              <a:ea typeface="Calibri"/>
              <a:cs typeface="Calibri"/>
            </a:endParaRPr>
          </a:p>
          <a:p>
            <a:endParaRPr lang="fr-FR" sz="4400" u="sng" dirty="0">
              <a:ea typeface="Calibri" panose="020F0502020204030204"/>
              <a:cs typeface="Calibri" panose="020F0502020204030204"/>
            </a:endParaRPr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4400" u="sng" dirty="0"/>
          </a:p>
          <a:p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endParaRPr lang="fr-FR" sz="3600" b="0" dirty="0">
              <a:effectLst/>
            </a:endParaRPr>
          </a:p>
          <a:p>
            <a:endParaRPr lang="fr-FR" sz="3600" b="0" dirty="0">
              <a:effectLst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E42537CF-0B1D-2F78-2144-E1845DA2C4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97" y="19729088"/>
            <a:ext cx="16993203" cy="13212418"/>
          </a:xfrm>
          <a:prstGeom prst="rect">
            <a:avLst/>
          </a:prstGeom>
        </p:spPr>
      </p:pic>
      <p:sp>
        <p:nvSpPr>
          <p:cNvPr id="1204" name="ZoneTexte 1203">
            <a:extLst>
              <a:ext uri="{FF2B5EF4-FFF2-40B4-BE49-F238E27FC236}">
                <a16:creationId xmlns:a16="http://schemas.microsoft.com/office/drawing/2014/main" id="{B04408CF-37B0-5F75-DBC7-74644C4EB82E}"/>
              </a:ext>
            </a:extLst>
          </p:cNvPr>
          <p:cNvSpPr txBox="1"/>
          <p:nvPr/>
        </p:nvSpPr>
        <p:spPr>
          <a:xfrm>
            <a:off x="230512" y="33765951"/>
            <a:ext cx="8546232" cy="69403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8500" b="1" dirty="0"/>
              <a:t>4- </a:t>
            </a:r>
            <a:r>
              <a:rPr lang="fr-FR" sz="8500" b="1" u="sng" dirty="0"/>
              <a:t>Conclusion</a:t>
            </a:r>
            <a:r>
              <a:rPr lang="fr-FR" sz="600" b="1" dirty="0"/>
              <a:t>	</a:t>
            </a:r>
            <a:r>
              <a:rPr lang="fr-FR" sz="8500" b="1" dirty="0"/>
              <a:t>	</a:t>
            </a:r>
            <a:endParaRPr lang="fr-FR" sz="8500" b="1">
              <a:ea typeface="Calibri"/>
              <a:cs typeface="Calibri"/>
            </a:endParaRPr>
          </a:p>
          <a:p>
            <a:r>
              <a:rPr lang="fr-FR" sz="5400" dirty="0"/>
              <a:t>	A- </a:t>
            </a:r>
            <a:r>
              <a:rPr lang="fr-FR" sz="5400" i="1" u="sng" dirty="0"/>
              <a:t>Difficultés rencontrés</a:t>
            </a:r>
            <a:endParaRPr lang="fr-FR" sz="5400" i="1" dirty="0"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/>
              <a:t>L’isolation</a:t>
            </a:r>
            <a:endParaRPr lang="fr-FR" sz="3600" dirty="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dirty="0"/>
              <a:t>Complexité de la gestion du flux d’air 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b="0" i="0" dirty="0">
                <a:effectLst/>
                <a:latin typeface="Google Sans"/>
              </a:rPr>
              <a:t>Simuler </a:t>
            </a:r>
            <a:r>
              <a:rPr lang="fr-FR" sz="3600" dirty="0">
                <a:latin typeface="Google Sans"/>
              </a:rPr>
              <a:t>la température d'un environnement extérieur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b="0" i="0" dirty="0">
                <a:effectLst/>
                <a:latin typeface="Google Sans"/>
              </a:rPr>
              <a:t>Construire une maison qui puisse contenir tous les éléments de domotique à cette échelle</a:t>
            </a:r>
            <a:endParaRPr lang="fr-FR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fr-FR" sz="3600" dirty="0">
              <a:latin typeface="Google Sans"/>
            </a:endParaRPr>
          </a:p>
        </p:txBody>
      </p:sp>
      <p:sp>
        <p:nvSpPr>
          <p:cNvPr id="1207" name="ZoneTexte 1206">
            <a:extLst>
              <a:ext uri="{FF2B5EF4-FFF2-40B4-BE49-F238E27FC236}">
                <a16:creationId xmlns:a16="http://schemas.microsoft.com/office/drawing/2014/main" id="{1B4B22E9-480B-B288-7452-713A0C138C82}"/>
              </a:ext>
            </a:extLst>
          </p:cNvPr>
          <p:cNvSpPr txBox="1"/>
          <p:nvPr/>
        </p:nvSpPr>
        <p:spPr>
          <a:xfrm>
            <a:off x="8942146" y="37575833"/>
            <a:ext cx="7167661" cy="31393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5400" dirty="0"/>
              <a:t>   B- </a:t>
            </a:r>
            <a:r>
              <a:rPr lang="fr-FR" sz="5400" i="1" u="sng" dirty="0"/>
              <a:t>Améliorations</a:t>
            </a:r>
            <a:r>
              <a:rPr lang="fr-FR" sz="5400" dirty="0"/>
              <a:t>	</a:t>
            </a:r>
            <a:endParaRPr lang="fr-FR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3600" dirty="0"/>
              <a:t>Ajout de panneau solaire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3600" dirty="0"/>
              <a:t>Mesure de la luminosité/Humidité</a:t>
            </a:r>
            <a:endParaRPr lang="fr-FR" sz="36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fr-FR" sz="3600" dirty="0"/>
              <a:t>Contrôle via une application</a:t>
            </a:r>
            <a:endParaRPr lang="fr-FR" sz="4400" dirty="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fr-FR" sz="3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C9398357-3C7E-9FE3-2777-44B28AB79294}"/>
              </a:ext>
            </a:extLst>
          </p:cNvPr>
          <p:cNvSpPr/>
          <p:nvPr/>
        </p:nvSpPr>
        <p:spPr>
          <a:xfrm>
            <a:off x="-2" y="41127793"/>
            <a:ext cx="18724839" cy="15953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0" name="ZoneTexte 1209">
            <a:extLst>
              <a:ext uri="{FF2B5EF4-FFF2-40B4-BE49-F238E27FC236}">
                <a16:creationId xmlns:a16="http://schemas.microsoft.com/office/drawing/2014/main" id="{C0E8BE87-7FFC-7CE5-AB68-C356BFDC5EF3}"/>
              </a:ext>
            </a:extLst>
          </p:cNvPr>
          <p:cNvSpPr txBox="1"/>
          <p:nvPr/>
        </p:nvSpPr>
        <p:spPr>
          <a:xfrm>
            <a:off x="0" y="41153448"/>
            <a:ext cx="18724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Références :</a:t>
            </a:r>
          </a:p>
          <a:p>
            <a:r>
              <a:rPr lang="fr-FR" sz="3600" dirty="0">
                <a:solidFill>
                  <a:schemeClr val="accent1">
                    <a:lumMod val="75000"/>
                  </a:schemeClr>
                </a:solidFill>
              </a:rPr>
              <a:t>https://www.intercommunalites.fr/actualite/point-sur-la-situation-energetique-en-europe/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C1600-2C52-9A5D-A093-2BECFA2453E8}"/>
              </a:ext>
            </a:extLst>
          </p:cNvPr>
          <p:cNvSpPr/>
          <p:nvPr/>
        </p:nvSpPr>
        <p:spPr>
          <a:xfrm>
            <a:off x="18399368" y="17365335"/>
            <a:ext cx="11702888" cy="160170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fr-FR" sz="2000" i="1" dirty="0">
              <a:ea typeface="Calibri"/>
              <a:cs typeface="Calibri"/>
            </a:endParaRPr>
          </a:p>
          <a:p>
            <a:r>
              <a:rPr lang="fr-FR" sz="5400" i="1" dirty="0">
                <a:ea typeface="Calibri"/>
                <a:cs typeface="Calibri"/>
              </a:rPr>
              <a:t> </a:t>
            </a:r>
            <a:r>
              <a:rPr lang="fr-FR" sz="5400" i="1" dirty="0">
                <a:solidFill>
                  <a:schemeClr val="tx1"/>
                </a:solidFill>
                <a:ea typeface="Calibri"/>
                <a:cs typeface="Calibri"/>
              </a:rPr>
              <a:t>   B- </a:t>
            </a:r>
            <a:r>
              <a:rPr lang="fr-FR" sz="5400" i="1" u="sng" dirty="0">
                <a:solidFill>
                  <a:schemeClr val="tx1"/>
                </a:solidFill>
                <a:ea typeface="Calibri"/>
                <a:cs typeface="Calibri"/>
              </a:rPr>
              <a:t>Schéma bloc</a:t>
            </a:r>
            <a:endParaRPr lang="fr-FR" i="1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72909B3D-BA5C-BAD6-4029-28AC4D419D52}"/>
              </a:ext>
            </a:extLst>
          </p:cNvPr>
          <p:cNvCxnSpPr>
            <a:cxnSpLocks/>
          </p:cNvCxnSpPr>
          <p:nvPr/>
        </p:nvCxnSpPr>
        <p:spPr>
          <a:xfrm flipH="1">
            <a:off x="22570445" y="32102960"/>
            <a:ext cx="6061175" cy="93141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9C12384-09C0-91E9-3E63-3B9AA8C61CAC}"/>
              </a:ext>
            </a:extLst>
          </p:cNvPr>
          <p:cNvCxnSpPr>
            <a:cxnSpLocks/>
          </p:cNvCxnSpPr>
          <p:nvPr/>
        </p:nvCxnSpPr>
        <p:spPr>
          <a:xfrm flipH="1">
            <a:off x="21351519" y="30083892"/>
            <a:ext cx="2465278" cy="162995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E481D023-0638-ADC5-DC98-0B13A77175D0}"/>
              </a:ext>
            </a:extLst>
          </p:cNvPr>
          <p:cNvCxnSpPr>
            <a:cxnSpLocks/>
          </p:cNvCxnSpPr>
          <p:nvPr/>
        </p:nvCxnSpPr>
        <p:spPr>
          <a:xfrm flipH="1">
            <a:off x="20905480" y="29076752"/>
            <a:ext cx="719135" cy="2660368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BE9D1E8A-9D68-10A4-5FB2-E6219F7E83B9}"/>
              </a:ext>
            </a:extLst>
          </p:cNvPr>
          <p:cNvCxnSpPr>
            <a:cxnSpLocks/>
          </p:cNvCxnSpPr>
          <p:nvPr/>
        </p:nvCxnSpPr>
        <p:spPr>
          <a:xfrm>
            <a:off x="19631847" y="28874823"/>
            <a:ext cx="835988" cy="281431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0536ADE9-410E-1528-0756-E0D22D130BC8}"/>
              </a:ext>
            </a:extLst>
          </p:cNvPr>
          <p:cNvCxnSpPr>
            <a:cxnSpLocks/>
          </p:cNvCxnSpPr>
          <p:nvPr/>
        </p:nvCxnSpPr>
        <p:spPr>
          <a:xfrm>
            <a:off x="19612468" y="27262243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F9C16DD-FFAF-5FBA-04C3-5D74438CEDBA}"/>
              </a:ext>
            </a:extLst>
          </p:cNvPr>
          <p:cNvCxnSpPr>
            <a:cxnSpLocks/>
          </p:cNvCxnSpPr>
          <p:nvPr/>
        </p:nvCxnSpPr>
        <p:spPr>
          <a:xfrm>
            <a:off x="21632556" y="27262285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8A511BB1-175F-664B-E000-48FBDC44CE37}"/>
              </a:ext>
            </a:extLst>
          </p:cNvPr>
          <p:cNvCxnSpPr>
            <a:cxnSpLocks/>
          </p:cNvCxnSpPr>
          <p:nvPr/>
        </p:nvCxnSpPr>
        <p:spPr>
          <a:xfrm flipH="1">
            <a:off x="25868471" y="27262286"/>
            <a:ext cx="964321" cy="6660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76C7B612-B18D-E2A8-A093-DEBF6F428A80}"/>
              </a:ext>
            </a:extLst>
          </p:cNvPr>
          <p:cNvCxnSpPr>
            <a:cxnSpLocks/>
          </p:cNvCxnSpPr>
          <p:nvPr/>
        </p:nvCxnSpPr>
        <p:spPr>
          <a:xfrm flipH="1">
            <a:off x="28337744" y="27262328"/>
            <a:ext cx="583077" cy="6660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6B41347-49C1-3F21-851B-7B65502F9597}"/>
              </a:ext>
            </a:extLst>
          </p:cNvPr>
          <p:cNvCxnSpPr>
            <a:cxnSpLocks/>
          </p:cNvCxnSpPr>
          <p:nvPr/>
        </p:nvCxnSpPr>
        <p:spPr>
          <a:xfrm>
            <a:off x="19612513" y="25804819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1788FD6-AB14-683C-4CE6-02EB630254F2}"/>
              </a:ext>
            </a:extLst>
          </p:cNvPr>
          <p:cNvCxnSpPr>
            <a:cxnSpLocks/>
          </p:cNvCxnSpPr>
          <p:nvPr/>
        </p:nvCxnSpPr>
        <p:spPr>
          <a:xfrm>
            <a:off x="21632600" y="25804862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926B9A92-2EDB-94E1-CEA1-26BF7A09F3C5}"/>
              </a:ext>
            </a:extLst>
          </p:cNvPr>
          <p:cNvCxnSpPr>
            <a:cxnSpLocks/>
          </p:cNvCxnSpPr>
          <p:nvPr/>
        </p:nvCxnSpPr>
        <p:spPr>
          <a:xfrm>
            <a:off x="26855249" y="25804862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D503A3B0-47C2-0731-818F-6F5869CEA4EB}"/>
              </a:ext>
            </a:extLst>
          </p:cNvPr>
          <p:cNvCxnSpPr>
            <a:cxnSpLocks/>
          </p:cNvCxnSpPr>
          <p:nvPr/>
        </p:nvCxnSpPr>
        <p:spPr>
          <a:xfrm>
            <a:off x="28876034" y="25804904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ED6E67B1-C53C-B927-BA99-56A8D44B07E5}"/>
              </a:ext>
            </a:extLst>
          </p:cNvPr>
          <p:cNvCxnSpPr>
            <a:cxnSpLocks/>
          </p:cNvCxnSpPr>
          <p:nvPr/>
        </p:nvCxnSpPr>
        <p:spPr>
          <a:xfrm>
            <a:off x="19615266" y="24168014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04783FEB-1D27-CAA0-55D2-F0B340AC0C2D}"/>
              </a:ext>
            </a:extLst>
          </p:cNvPr>
          <p:cNvCxnSpPr>
            <a:cxnSpLocks/>
          </p:cNvCxnSpPr>
          <p:nvPr/>
        </p:nvCxnSpPr>
        <p:spPr>
          <a:xfrm>
            <a:off x="21636052" y="24168058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4AE18005-1E0B-39B9-0A65-939B89813C35}"/>
              </a:ext>
            </a:extLst>
          </p:cNvPr>
          <p:cNvCxnSpPr>
            <a:cxnSpLocks/>
          </p:cNvCxnSpPr>
          <p:nvPr/>
        </p:nvCxnSpPr>
        <p:spPr>
          <a:xfrm>
            <a:off x="26860508" y="24168058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necteur droit avec flèche 1023">
            <a:extLst>
              <a:ext uri="{FF2B5EF4-FFF2-40B4-BE49-F238E27FC236}">
                <a16:creationId xmlns:a16="http://schemas.microsoft.com/office/drawing/2014/main" id="{DB1D10FC-D030-184B-E835-2CDA284E7C91}"/>
              </a:ext>
            </a:extLst>
          </p:cNvPr>
          <p:cNvCxnSpPr>
            <a:cxnSpLocks/>
          </p:cNvCxnSpPr>
          <p:nvPr/>
        </p:nvCxnSpPr>
        <p:spPr>
          <a:xfrm>
            <a:off x="28881993" y="24168101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Connecteur droit avec flèche 1025">
            <a:extLst>
              <a:ext uri="{FF2B5EF4-FFF2-40B4-BE49-F238E27FC236}">
                <a16:creationId xmlns:a16="http://schemas.microsoft.com/office/drawing/2014/main" id="{05A8716D-4D87-4E4A-7BFB-237A6BBA214A}"/>
              </a:ext>
            </a:extLst>
          </p:cNvPr>
          <p:cNvCxnSpPr>
            <a:cxnSpLocks/>
          </p:cNvCxnSpPr>
          <p:nvPr/>
        </p:nvCxnSpPr>
        <p:spPr>
          <a:xfrm>
            <a:off x="20586011" y="21948268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Connecteur droit avec flèche 1028">
            <a:extLst>
              <a:ext uri="{FF2B5EF4-FFF2-40B4-BE49-F238E27FC236}">
                <a16:creationId xmlns:a16="http://schemas.microsoft.com/office/drawing/2014/main" id="{E3D44862-A1F8-2BC8-316E-45825E3535EF}"/>
              </a:ext>
            </a:extLst>
          </p:cNvPr>
          <p:cNvCxnSpPr>
            <a:cxnSpLocks/>
          </p:cNvCxnSpPr>
          <p:nvPr/>
        </p:nvCxnSpPr>
        <p:spPr>
          <a:xfrm>
            <a:off x="27834457" y="21948311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Connecteur : en angle 1029">
            <a:extLst>
              <a:ext uri="{FF2B5EF4-FFF2-40B4-BE49-F238E27FC236}">
                <a16:creationId xmlns:a16="http://schemas.microsoft.com/office/drawing/2014/main" id="{A3507BC9-5447-A334-3A13-B83BF7D185F8}"/>
              </a:ext>
            </a:extLst>
          </p:cNvPr>
          <p:cNvCxnSpPr>
            <a:cxnSpLocks/>
          </p:cNvCxnSpPr>
          <p:nvPr/>
        </p:nvCxnSpPr>
        <p:spPr>
          <a:xfrm flipH="1">
            <a:off x="20582466" y="19685070"/>
            <a:ext cx="1501440" cy="1030305"/>
          </a:xfrm>
          <a:prstGeom prst="bentConnector2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2" name="Connecteur : en angle 1031">
            <a:extLst>
              <a:ext uri="{FF2B5EF4-FFF2-40B4-BE49-F238E27FC236}">
                <a16:creationId xmlns:a16="http://schemas.microsoft.com/office/drawing/2014/main" id="{97CDF766-8379-F470-47F7-D8F4D9384C01}"/>
              </a:ext>
            </a:extLst>
          </p:cNvPr>
          <p:cNvCxnSpPr>
            <a:cxnSpLocks/>
          </p:cNvCxnSpPr>
          <p:nvPr/>
        </p:nvCxnSpPr>
        <p:spPr>
          <a:xfrm>
            <a:off x="26391651" y="19685224"/>
            <a:ext cx="1436379" cy="1030307"/>
          </a:xfrm>
          <a:prstGeom prst="bentConnector2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3" name="Connecteur droit avec flèche 1032">
            <a:extLst>
              <a:ext uri="{FF2B5EF4-FFF2-40B4-BE49-F238E27FC236}">
                <a16:creationId xmlns:a16="http://schemas.microsoft.com/office/drawing/2014/main" id="{B5C06799-EC10-3413-BBD8-37C2B3FEF060}"/>
              </a:ext>
            </a:extLst>
          </p:cNvPr>
          <p:cNvCxnSpPr>
            <a:cxnSpLocks/>
          </p:cNvCxnSpPr>
          <p:nvPr/>
        </p:nvCxnSpPr>
        <p:spPr>
          <a:xfrm>
            <a:off x="24708643" y="28988865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necteur droit avec flèche 1033">
            <a:extLst>
              <a:ext uri="{FF2B5EF4-FFF2-40B4-BE49-F238E27FC236}">
                <a16:creationId xmlns:a16="http://schemas.microsoft.com/office/drawing/2014/main" id="{DF7C310B-A4DF-0037-3D3B-944239F6E264}"/>
              </a:ext>
            </a:extLst>
          </p:cNvPr>
          <p:cNvCxnSpPr>
            <a:cxnSpLocks/>
          </p:cNvCxnSpPr>
          <p:nvPr/>
        </p:nvCxnSpPr>
        <p:spPr>
          <a:xfrm>
            <a:off x="28299164" y="28988908"/>
            <a:ext cx="0" cy="6436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6F7D2-4E6C-4BE7-B45C-5724A9FE2942}"/>
              </a:ext>
            </a:extLst>
          </p:cNvPr>
          <p:cNvSpPr/>
          <p:nvPr/>
        </p:nvSpPr>
        <p:spPr>
          <a:xfrm>
            <a:off x="21698051" y="19010680"/>
            <a:ext cx="5104379" cy="1379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600" dirty="0">
                <a:ea typeface="Calibri"/>
                <a:cs typeface="Calibri"/>
              </a:rPr>
              <a:t>Mode été ou hiver ?</a:t>
            </a:r>
            <a:endParaRPr lang="fr-FR" sz="3600"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2D12D8-0F3E-A5D7-EBB1-4E6F052F6947}"/>
              </a:ext>
            </a:extLst>
          </p:cNvPr>
          <p:cNvSpPr/>
          <p:nvPr/>
        </p:nvSpPr>
        <p:spPr>
          <a:xfrm>
            <a:off x="19290735" y="20715771"/>
            <a:ext cx="2640805" cy="1238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600" dirty="0">
                <a:solidFill>
                  <a:schemeClr val="bg1"/>
                </a:solidFill>
              </a:rPr>
              <a:t> </a:t>
            </a:r>
            <a:r>
              <a:rPr lang="fr-FR" sz="3600" dirty="0">
                <a:solidFill>
                  <a:schemeClr val="bg1"/>
                </a:solidFill>
                <a:ea typeface="+mn-lt"/>
                <a:cs typeface="+mn-lt"/>
              </a:rPr>
              <a:t>É</a:t>
            </a:r>
            <a:r>
              <a:rPr lang="fr-FR" sz="3600" dirty="0">
                <a:solidFill>
                  <a:schemeClr val="bg1"/>
                </a:solidFill>
              </a:rPr>
              <a:t>té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098619-669D-5B27-D454-61801FD7C89D}"/>
              </a:ext>
            </a:extLst>
          </p:cNvPr>
          <p:cNvSpPr/>
          <p:nvPr/>
        </p:nvSpPr>
        <p:spPr>
          <a:xfrm>
            <a:off x="26550194" y="20728457"/>
            <a:ext cx="2529192" cy="123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bg1"/>
                </a:solidFill>
              </a:rPr>
              <a:t> Hiver </a:t>
            </a:r>
            <a:endParaRPr lang="fr-FR" sz="3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46E58C-27BE-3073-F632-B827B911CDB7}"/>
              </a:ext>
            </a:extLst>
          </p:cNvPr>
          <p:cNvSpPr/>
          <p:nvPr/>
        </p:nvSpPr>
        <p:spPr>
          <a:xfrm>
            <a:off x="18696428" y="22613617"/>
            <a:ext cx="3833775" cy="1544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 PWM ampoule halogène à intensité élevée</a:t>
            </a:r>
            <a:endParaRPr lang="fr-FR" sz="3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9C3043-F0DE-3286-459D-3A0BC37B84C3}"/>
              </a:ext>
            </a:extLst>
          </p:cNvPr>
          <p:cNvSpPr/>
          <p:nvPr/>
        </p:nvSpPr>
        <p:spPr>
          <a:xfrm>
            <a:off x="25857793" y="22606301"/>
            <a:ext cx="3923479" cy="1544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 PWM Peltier pour refroidir la maison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7D8B4E-3A59-1ABF-2C26-8A714A22975C}"/>
              </a:ext>
            </a:extLst>
          </p:cNvPr>
          <p:cNvSpPr/>
          <p:nvPr/>
        </p:nvSpPr>
        <p:spPr>
          <a:xfrm>
            <a:off x="18682430" y="24850586"/>
            <a:ext cx="3833775" cy="98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Lire température intérieure T</a:t>
            </a:r>
            <a:endParaRPr lang="fr-FR" sz="3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59F3F1-B47D-4C3D-8BB7-3FAB4A121F62}"/>
              </a:ext>
            </a:extLst>
          </p:cNvPr>
          <p:cNvSpPr/>
          <p:nvPr/>
        </p:nvSpPr>
        <p:spPr>
          <a:xfrm>
            <a:off x="25880024" y="24873051"/>
            <a:ext cx="3833775" cy="98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Lire température intérieure T</a:t>
            </a:r>
            <a:endParaRPr lang="fr-FR" sz="3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65BA53-6741-C3A6-C376-65B973D060CA}"/>
              </a:ext>
            </a:extLst>
          </p:cNvPr>
          <p:cNvSpPr/>
          <p:nvPr/>
        </p:nvSpPr>
        <p:spPr>
          <a:xfrm>
            <a:off x="18676903" y="26497818"/>
            <a:ext cx="1847742" cy="781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T &lt; 21°C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DF4D33-96A5-6958-1419-759ED0FFE9CD}"/>
              </a:ext>
            </a:extLst>
          </p:cNvPr>
          <p:cNvSpPr/>
          <p:nvPr/>
        </p:nvSpPr>
        <p:spPr>
          <a:xfrm>
            <a:off x="20741594" y="26497904"/>
            <a:ext cx="1758038" cy="781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T &gt; 21°C</a:t>
            </a:r>
            <a:endParaRPr lang="fr-FR" sz="3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18F1B9-4CB0-A2CA-8068-4B26F92DABA5}"/>
              </a:ext>
            </a:extLst>
          </p:cNvPr>
          <p:cNvSpPr/>
          <p:nvPr/>
        </p:nvSpPr>
        <p:spPr>
          <a:xfrm>
            <a:off x="18740900" y="27938350"/>
            <a:ext cx="1779061" cy="1118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Ouvrir le volet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5669AD-82D5-1650-F803-8A5372D73FA3}"/>
              </a:ext>
            </a:extLst>
          </p:cNvPr>
          <p:cNvSpPr/>
          <p:nvPr/>
        </p:nvSpPr>
        <p:spPr>
          <a:xfrm>
            <a:off x="20671036" y="27938392"/>
            <a:ext cx="1779061" cy="1118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Fermer le volet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862C60-4700-61C1-31B5-248F91C92C1C}"/>
              </a:ext>
            </a:extLst>
          </p:cNvPr>
          <p:cNvSpPr/>
          <p:nvPr/>
        </p:nvSpPr>
        <p:spPr>
          <a:xfrm>
            <a:off x="23145359" y="27946212"/>
            <a:ext cx="3223878" cy="1108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Ouvrir le volet</a:t>
            </a:r>
          </a:p>
          <a:p>
            <a:pPr algn="ctr"/>
            <a:r>
              <a:rPr lang="fr-FR" sz="3200" dirty="0"/>
              <a:t>Activer résistance</a:t>
            </a:r>
            <a:endParaRPr lang="fr-FR" sz="3200" dirty="0">
              <a:ea typeface="Calibri"/>
              <a:cs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A3324D-7748-04B4-E6FE-11F69CC6F369}"/>
              </a:ext>
            </a:extLst>
          </p:cNvPr>
          <p:cNvSpPr/>
          <p:nvPr/>
        </p:nvSpPr>
        <p:spPr>
          <a:xfrm>
            <a:off x="26619583" y="27951315"/>
            <a:ext cx="3289879" cy="110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Fermer le volet</a:t>
            </a:r>
          </a:p>
          <a:p>
            <a:pPr algn="ctr"/>
            <a:r>
              <a:rPr lang="fr-FR" sz="3200" dirty="0"/>
              <a:t>PID  =&gt; T consigne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2372A3-A460-2DC0-BC01-8684856A1CBF}"/>
              </a:ext>
            </a:extLst>
          </p:cNvPr>
          <p:cNvSpPr/>
          <p:nvPr/>
        </p:nvSpPr>
        <p:spPr>
          <a:xfrm>
            <a:off x="18626451" y="31753776"/>
            <a:ext cx="3890273" cy="1505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/>
              <a:t>Revenir à la lecture    de </a:t>
            </a:r>
            <a:r>
              <a:rPr lang="fr-FR" sz="3200" dirty="0"/>
              <a:t>température </a:t>
            </a:r>
            <a:endParaRPr lang="fr-FR"/>
          </a:p>
          <a:p>
            <a:pPr algn="ctr"/>
            <a:r>
              <a:rPr lang="fr-FR" sz="3200" dirty="0"/>
              <a:t>(boucle)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FD168B-9473-6D1D-B2EF-1B9CF807D5F0}"/>
              </a:ext>
            </a:extLst>
          </p:cNvPr>
          <p:cNvSpPr/>
          <p:nvPr/>
        </p:nvSpPr>
        <p:spPr>
          <a:xfrm>
            <a:off x="25874486" y="26497861"/>
            <a:ext cx="1847742" cy="781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T &lt; 21°C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82A8CF-22AF-FCCD-5052-5C2E0EAA0A0E}"/>
              </a:ext>
            </a:extLst>
          </p:cNvPr>
          <p:cNvSpPr/>
          <p:nvPr/>
        </p:nvSpPr>
        <p:spPr>
          <a:xfrm>
            <a:off x="27939892" y="26497946"/>
            <a:ext cx="1758038" cy="781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T &gt; 23°C</a:t>
            </a:r>
            <a:endParaRPr lang="fr-FR" sz="3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A28BF6-ABFB-3335-94A5-78FAD6173637}"/>
              </a:ext>
            </a:extLst>
          </p:cNvPr>
          <p:cNvSpPr/>
          <p:nvPr/>
        </p:nvSpPr>
        <p:spPr>
          <a:xfrm>
            <a:off x="23732020" y="29653944"/>
            <a:ext cx="1894353" cy="2477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Lancer PID pour </a:t>
            </a:r>
          </a:p>
          <a:p>
            <a:pPr algn="ctr"/>
            <a:r>
              <a:rPr lang="fr-FR" sz="3200" dirty="0"/>
              <a:t>Chauffer jusqu’à 21-23°C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AB7995-13B9-240F-004D-9E2B48773461}"/>
              </a:ext>
            </a:extLst>
          </p:cNvPr>
          <p:cNvSpPr/>
          <p:nvPr/>
        </p:nvSpPr>
        <p:spPr>
          <a:xfrm>
            <a:off x="27344953" y="29653987"/>
            <a:ext cx="1894353" cy="2477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3200" dirty="0"/>
              <a:t>Couper résistance si T&gt;23°C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2152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3554</TotalTime>
  <Words>422</Words>
  <Application>Microsoft Office PowerPoint</Application>
  <PresentationFormat>Custom</PresentationFormat>
  <Paragraphs>104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Christophe DAUSSY</dc:creator>
  <cp:lastModifiedBy>Sarah DAHMOUN</cp:lastModifiedBy>
  <cp:revision>536</cp:revision>
  <dcterms:created xsi:type="dcterms:W3CDTF">2025-05-24T14:10:49Z</dcterms:created>
  <dcterms:modified xsi:type="dcterms:W3CDTF">2025-06-07T18:33:15Z</dcterms:modified>
</cp:coreProperties>
</file>